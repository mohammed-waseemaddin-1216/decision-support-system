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1.svg" ContentType="image/svg+xml"/>
  <Override PartName="/ppt/media/image13.svg" ContentType="image/svg+xml"/>
  <Override PartName="/ppt/media/image1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3.svg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9.xml"/><Relationship Id="rId2" Type="http://schemas.openxmlformats.org/officeDocument/2006/relationships/hyperlink" Target="https://github.com/Mohammed-Waseemaddin-1216/Decision-Support-System%20" TargetMode="Externa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50889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Real-Time Multi-Mode Decision Support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08609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A machine learning-powered system bridging complex data analysis and actionable decisions — across organizational marketing and personal productivity workflows.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52467"/>
            <a:ext cx="4104323" cy="426244"/>
          </a:xfrm>
          <a:prstGeom prst="roundRect">
            <a:avLst>
              <a:gd name="adj" fmla="val 6386"/>
            </a:avLst>
          </a:prstGeom>
          <a:solidFill>
            <a:srgbClr val="372015"/>
          </a:solidFill>
        </p:spPr>
      </p:sp>
      <p:sp>
        <p:nvSpPr>
          <p:cNvPr id="6" name="Text 3"/>
          <p:cNvSpPr/>
          <p:nvPr/>
        </p:nvSpPr>
        <p:spPr>
          <a:xfrm>
            <a:off x="6416278" y="5520452"/>
            <a:ext cx="3832146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FLASK · SCIKIT-LEARN · RANDOM FOREST</a:t>
            </a:r>
            <a:endParaRPr lang="en-US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12879070" y="7597140"/>
            <a:ext cx="1652905" cy="5105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01090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The Problem: Information Overload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85624"/>
            <a:ext cx="3501509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Organizational Marketing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021098"/>
            <a:ext cx="3501509" cy="290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Marketing teams drown in customer behavioral data — purchase histories, channel engagement, and recency signals — with no unified system to convert raw metrics into prioritized campaign actions in real time.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085624"/>
            <a:ext cx="312134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Personal Productivity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3666768"/>
            <a:ext cx="3501509" cy="25403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Individuals face fragmented task signals and unstructured inputs, lacking intelligent tools to triage priorities, surface relevant patterns, and drive daily decision-making with data-backed clarity.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722" y="524828"/>
            <a:ext cx="10625376" cy="587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System Architecture: Dual-Mode Framework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181" y="1424940"/>
            <a:ext cx="12877800" cy="55531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42733" y="5925041"/>
            <a:ext cx="2921534" cy="3651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Dashboard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742733" y="4639566"/>
            <a:ext cx="2921534" cy="3651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ML Model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42733" y="3367076"/>
            <a:ext cx="2921534" cy="3651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Flask Backend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742733" y="2081601"/>
            <a:ext cx="2921534" cy="3651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User Input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22722" y="7153751"/>
            <a:ext cx="12984837" cy="551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A single Flask backend routes requests across both modes. Preprocessed feature vectors are passed to the trained model, which returns confidence-scored decisions rendered instantly on the dashboard — no page reload required.</a:t>
            </a:r>
            <a:endParaRPr lang="en-US" sz="1450" dirty="0"/>
          </a:p>
        </p:txBody>
      </p:sp>
      <p:sp>
        <p:nvSpPr>
          <p:cNvPr id="9" name="Rounded Rectangle 8"/>
          <p:cNvSpPr/>
          <p:nvPr/>
        </p:nvSpPr>
        <p:spPr>
          <a:xfrm>
            <a:off x="12879070" y="7631430"/>
            <a:ext cx="1652905" cy="5105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649" y="508873"/>
            <a:ext cx="6502360" cy="5716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Model &amp; Algorithm Analysis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649" y="1467564"/>
            <a:ext cx="6087308" cy="60873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49" y="1467564"/>
            <a:ext cx="6087308" cy="60873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5824" y="2433161"/>
            <a:ext cx="2370177" cy="285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7545824" y="2884765"/>
            <a:ext cx="2969895" cy="1637228"/>
          </a:xfrm>
          <a:prstGeom prst="roundRect">
            <a:avLst>
              <a:gd name="adj" fmla="val 6702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522964" y="2884765"/>
            <a:ext cx="91440" cy="1637228"/>
          </a:xfrm>
          <a:prstGeom prst="roundRect">
            <a:avLst>
              <a:gd name="adj" fmla="val 30006"/>
            </a:avLst>
          </a:prstGeom>
          <a:solidFill>
            <a:srgbClr val="E2C2B3"/>
          </a:solidFill>
        </p:spPr>
      </p:sp>
      <p:sp>
        <p:nvSpPr>
          <p:cNvPr id="8" name="Text 4"/>
          <p:cNvSpPr/>
          <p:nvPr/>
        </p:nvSpPr>
        <p:spPr>
          <a:xfrm>
            <a:off x="7820144" y="3090505"/>
            <a:ext cx="2286357" cy="285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Demographic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820144" y="3523655"/>
            <a:ext cx="2489835" cy="792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Income level as a primary behavioral segmentation signal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0663118" y="2884765"/>
            <a:ext cx="2970014" cy="1637228"/>
          </a:xfrm>
          <a:prstGeom prst="roundRect">
            <a:avLst>
              <a:gd name="adj" fmla="val 6702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640258" y="2884765"/>
            <a:ext cx="91440" cy="1637228"/>
          </a:xfrm>
          <a:prstGeom prst="roundRect">
            <a:avLst>
              <a:gd name="adj" fmla="val 30006"/>
            </a:avLst>
          </a:prstGeom>
          <a:solidFill>
            <a:srgbClr val="E2C2B3"/>
          </a:solidFill>
        </p:spPr>
      </p:sp>
      <p:sp>
        <p:nvSpPr>
          <p:cNvPr id="12" name="Text 8"/>
          <p:cNvSpPr/>
          <p:nvPr/>
        </p:nvSpPr>
        <p:spPr>
          <a:xfrm>
            <a:off x="10937438" y="3090505"/>
            <a:ext cx="2286357" cy="285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Recency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0937438" y="3523655"/>
            <a:ext cx="2489954" cy="792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Days since last purchase — critical for churn and engagement scoring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545824" y="4669393"/>
            <a:ext cx="2969895" cy="1901428"/>
          </a:xfrm>
          <a:prstGeom prst="roundRect">
            <a:avLst>
              <a:gd name="adj" fmla="val 5771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22964" y="4669393"/>
            <a:ext cx="91440" cy="1901428"/>
          </a:xfrm>
          <a:prstGeom prst="roundRect">
            <a:avLst>
              <a:gd name="adj" fmla="val 30006"/>
            </a:avLst>
          </a:prstGeom>
          <a:solidFill>
            <a:srgbClr val="E2C2B3"/>
          </a:solidFill>
        </p:spPr>
      </p:sp>
      <p:sp>
        <p:nvSpPr>
          <p:cNvPr id="16" name="Text 12"/>
          <p:cNvSpPr/>
          <p:nvPr/>
        </p:nvSpPr>
        <p:spPr>
          <a:xfrm>
            <a:off x="7820144" y="4875133"/>
            <a:ext cx="2286357" cy="285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Purchase Channels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820144" y="5308283"/>
            <a:ext cx="2489835" cy="792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Web, Catalog, and Store purchase counts as multi-channel behavior vectors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0663118" y="4669393"/>
            <a:ext cx="2970014" cy="1901428"/>
          </a:xfrm>
          <a:prstGeom prst="roundRect">
            <a:avLst>
              <a:gd name="adj" fmla="val 5771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640258" y="4669393"/>
            <a:ext cx="91440" cy="1901428"/>
          </a:xfrm>
          <a:prstGeom prst="roundRect">
            <a:avLst>
              <a:gd name="adj" fmla="val 30006"/>
            </a:avLst>
          </a:prstGeom>
          <a:solidFill>
            <a:srgbClr val="E2C2B3"/>
          </a:solidFill>
        </p:spPr>
      </p:sp>
      <p:sp>
        <p:nvSpPr>
          <p:cNvPr id="20" name="Text 16"/>
          <p:cNvSpPr/>
          <p:nvPr/>
        </p:nvSpPr>
        <p:spPr>
          <a:xfrm>
            <a:off x="10937438" y="4875133"/>
            <a:ext cx="2286357" cy="285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NLP Keywords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0937438" y="5308283"/>
            <a:ext cx="2489954" cy="10567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Keyword-based feature engineering for unstructured personal productivity inputs</a:t>
            </a:r>
            <a:endParaRPr lang="en-US" sz="1400" dirty="0"/>
          </a:p>
        </p:txBody>
      </p:sp>
      <p:sp>
        <p:nvSpPr>
          <p:cNvPr id="22" name="Rounded Rectangle 21"/>
          <p:cNvSpPr/>
          <p:nvPr/>
        </p:nvSpPr>
        <p:spPr>
          <a:xfrm>
            <a:off x="12879070" y="7597140"/>
            <a:ext cx="1652905" cy="5105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381" y="660202"/>
            <a:ext cx="5822513" cy="6780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Performance Metrics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9381" y="1861780"/>
            <a:ext cx="4197548" cy="716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87%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501973" y="2841903"/>
            <a:ext cx="2712244" cy="338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Accuracy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59381" y="3305413"/>
            <a:ext cx="4197548" cy="6788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Validated on held-out test set across both operational modes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16366" y="1861780"/>
            <a:ext cx="4197548" cy="716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200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958959" y="2841903"/>
            <a:ext cx="2712244" cy="338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Estimators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216366" y="3305413"/>
            <a:ext cx="4197548" cy="6788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Decision trees in the Random Forest ensemble for robust consensus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73352" y="1861780"/>
            <a:ext cx="4197668" cy="716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~12ms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0416064" y="2841903"/>
            <a:ext cx="2712244" cy="338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Inference Speed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73352" y="3305413"/>
            <a:ext cx="4197668" cy="6788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Average response latency from feature input to decision output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9381" y="4425315"/>
            <a:ext cx="2915007" cy="338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Why Random Forest?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59381" y="4971812"/>
            <a:ext cx="6291143" cy="20366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Marketing and productivity data are inherently non-linear — customer behavior doesn't follow simple thresholds. Random Forest's ensemble of decorrelated trees captures complex feature interactions without overfitting, delivering stable predictions even with noisy, high-dimensional inputs.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7496" y="4425315"/>
            <a:ext cx="2716292" cy="338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Evaluation Protocol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587496" y="4997768"/>
            <a:ext cx="3041809" cy="2338149"/>
          </a:xfrm>
          <a:prstGeom prst="roundRect">
            <a:avLst>
              <a:gd name="adj" fmla="val 1392"/>
            </a:avLst>
          </a:prstGeom>
          <a:solidFill>
            <a:srgbClr val="5F5153"/>
          </a:solidFill>
        </p:spPr>
      </p:sp>
      <p:sp>
        <p:nvSpPr>
          <p:cNvPr id="16" name="Text 14"/>
          <p:cNvSpPr/>
          <p:nvPr/>
        </p:nvSpPr>
        <p:spPr>
          <a:xfrm>
            <a:off x="7804428" y="5214699"/>
            <a:ext cx="2607945" cy="338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Precision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804428" y="5761196"/>
            <a:ext cx="2607945" cy="13577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Minimizing false positives in campaign targeting recommendations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836831" y="4997768"/>
            <a:ext cx="3041809" cy="2338149"/>
          </a:xfrm>
          <a:prstGeom prst="roundRect">
            <a:avLst>
              <a:gd name="adj" fmla="val 1392"/>
            </a:avLst>
          </a:prstGeom>
          <a:solidFill>
            <a:srgbClr val="5F5153"/>
          </a:solidFill>
        </p:spPr>
      </p:sp>
      <p:sp>
        <p:nvSpPr>
          <p:cNvPr id="19" name="Text 17"/>
          <p:cNvSpPr/>
          <p:nvPr/>
        </p:nvSpPr>
        <p:spPr>
          <a:xfrm>
            <a:off x="11053763" y="5214699"/>
            <a:ext cx="2607945" cy="338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Recall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053763" y="5761196"/>
            <a:ext cx="2607945" cy="10183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Maximizing capture of true high-value decision signals</a:t>
            </a:r>
            <a:endParaRPr lang="en-US" sz="1700" dirty="0"/>
          </a:p>
        </p:txBody>
      </p:sp>
      <p:sp>
        <p:nvSpPr>
          <p:cNvPr id="21" name="Rounded Rectangle 20"/>
          <p:cNvSpPr/>
          <p:nvPr/>
        </p:nvSpPr>
        <p:spPr>
          <a:xfrm>
            <a:off x="12879070" y="7597140"/>
            <a:ext cx="1652905" cy="5105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933" y="1346002"/>
            <a:ext cx="6881455" cy="5382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Results &amp; Real-Time Dashboard</a:t>
            </a:r>
            <a:endParaRPr lang="en-US" sz="3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33" y="2080498"/>
            <a:ext cx="430649" cy="4306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2933" y="2674620"/>
            <a:ext cx="2264688" cy="269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Feature Impact Plots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602933" y="3022283"/>
            <a:ext cx="7938135" cy="4848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Chart.js renders live feature importance distributions directly in the browser — no backend round-trip needed for visualization refresh.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933" y="3768685"/>
            <a:ext cx="430649" cy="4306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2933" y="4362807"/>
            <a:ext cx="2153364" cy="269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Matplotlib Exports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602933" y="4710470"/>
            <a:ext cx="7938135" cy="4848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Server-side Matplotlib generates static decision boundary and confusion matrix plots, embedded as base64 assets for reporting and audit trails.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933" y="5456873"/>
            <a:ext cx="430649" cy="4306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2933" y="6050994"/>
            <a:ext cx="2487692" cy="269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Instant Feedback Loop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602933" y="6398657"/>
            <a:ext cx="7938135" cy="4848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Predictions surface within milliseconds of form submission, enabling iterative "what-if" scenario exploration across both organisational and personal modes.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7972"/>
            <a:ext cx="661094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Outcome &amp; Conclusion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552587"/>
            <a:ext cx="1486019" cy="829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40831" y="314372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Bridging the Gap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840831" y="3724870"/>
            <a:ext cx="1100328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The system transforms raw behavioral and productivity data into </a:t>
            </a:r>
            <a:r>
              <a:rPr lang="en-US" sz="1750" b="1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prioritized, confidence-scored recommendations</a:t>
            </a:r>
            <a:r>
              <a:rPr lang="en-US" sz="17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 — eliminating manual analysis latency and empowering both marketers and individuals to act decisively.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5284113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5272802"/>
            <a:ext cx="342149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Complex ML inference abstracted behind a clean Flask API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0903" y="5284113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73008" y="5272802"/>
            <a:ext cx="342149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Dual-mode flexibility scales from enterprise teams to solo users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3006" y="5284113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415111" y="5272802"/>
            <a:ext cx="342149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Real-time visualizations make model reasoning transparent and auditable</a:t>
            </a:r>
            <a:endParaRPr lang="en-US" sz="1750" dirty="0"/>
          </a:p>
        </p:txBody>
      </p:sp>
      <p:sp>
        <p:nvSpPr>
          <p:cNvPr id="12" name="Rounded Rectangle 11"/>
          <p:cNvSpPr/>
          <p:nvPr/>
        </p:nvSpPr>
        <p:spPr>
          <a:xfrm>
            <a:off x="12879070" y="7597140"/>
            <a:ext cx="1652905" cy="5105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3304" y="1094780"/>
            <a:ext cx="8488799" cy="5110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Technical Documentation &amp; Source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73304" y="1900476"/>
            <a:ext cx="2044065" cy="255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Project Repository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73304" y="2273856"/>
            <a:ext cx="5442466" cy="6754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Full source code, model training notebooks, Flask application, and deployment instructions are maintained in a public GitHub repository. Contributions, issues, and forks are welcome.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73304" y="3081933"/>
            <a:ext cx="5442466" cy="796766"/>
          </a:xfrm>
          <a:prstGeom prst="roundRect">
            <a:avLst>
              <a:gd name="adj" fmla="val 3079"/>
            </a:avLst>
          </a:prstGeom>
          <a:solidFill>
            <a:srgbClr val="372015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6777" y="3326011"/>
            <a:ext cx="204311" cy="1634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04561" y="3240643"/>
            <a:ext cx="4747736" cy="4502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GitHub Repository:</a:t>
            </a:r>
            <a:r>
              <a:rPr lang="en-US" sz="1250" dirty="0">
                <a:solidFill>
                  <a:srgbClr val="FFFFFF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 </a:t>
            </a:r>
            <a:r>
              <a:rPr lang="en-US" sz="1250" u="sng" dirty="0">
                <a:solidFill>
                  <a:srgbClr val="E2C2B3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  <a:hlinkClick r:id="rId2" tooltip="" action="ppaction://hlinkfile"/>
              </a:rPr>
              <a:t>https://github.com/Mohammed-Waseemaddin-1216/Decision-Support-System</a:t>
            </a:r>
            <a:r>
              <a:rPr lang="en-US" sz="1250" dirty="0">
                <a:solidFill>
                  <a:srgbClr val="FFFFFF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  <a:hlinkClick r:id="rId2" tooltip="" action="ppaction://hlinkfile"/>
              </a:rPr>
              <a:t> 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22250" y="1915239"/>
            <a:ext cx="2662237" cy="1866424"/>
          </a:xfrm>
          <a:prstGeom prst="roundRect">
            <a:avLst>
              <a:gd name="adj" fmla="val 131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45110" y="1938099"/>
            <a:ext cx="2616518" cy="490538"/>
          </a:xfrm>
          <a:prstGeom prst="rect">
            <a:avLst/>
          </a:prstGeom>
          <a:solidFill>
            <a:srgbClr val="5F5153"/>
          </a:solidFill>
        </p:spPr>
      </p:sp>
      <p:sp>
        <p:nvSpPr>
          <p:cNvPr id="10" name="Text 7"/>
          <p:cNvSpPr/>
          <p:nvPr/>
        </p:nvSpPr>
        <p:spPr>
          <a:xfrm>
            <a:off x="8730734" y="2030016"/>
            <a:ext cx="245269" cy="3065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08583" y="2546509"/>
            <a:ext cx="2044065" cy="255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/model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08583" y="2919889"/>
            <a:ext cx="2289572" cy="6754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Trained Random Forest artifacts, feature encoders, and serialized pipeline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302359" y="1915239"/>
            <a:ext cx="2662357" cy="1866424"/>
          </a:xfrm>
          <a:prstGeom prst="roundRect">
            <a:avLst>
              <a:gd name="adj" fmla="val 131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325219" y="1938099"/>
            <a:ext cx="2616637" cy="490538"/>
          </a:xfrm>
          <a:prstGeom prst="rect">
            <a:avLst/>
          </a:prstGeom>
          <a:solidFill>
            <a:srgbClr val="5F5153"/>
          </a:solidFill>
        </p:spPr>
      </p:sp>
      <p:sp>
        <p:nvSpPr>
          <p:cNvPr id="15" name="Text 12"/>
          <p:cNvSpPr/>
          <p:nvPr/>
        </p:nvSpPr>
        <p:spPr>
          <a:xfrm>
            <a:off x="11510843" y="2030016"/>
            <a:ext cx="245269" cy="3065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0488692" y="2546509"/>
            <a:ext cx="2044065" cy="255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/app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488692" y="2919889"/>
            <a:ext cx="2289691" cy="6754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Flask routes, REST API endpoints, and Jinja2 template layer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522250" y="3899535"/>
            <a:ext cx="2662237" cy="1866424"/>
          </a:xfrm>
          <a:prstGeom prst="roundRect">
            <a:avLst>
              <a:gd name="adj" fmla="val 131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45110" y="3922395"/>
            <a:ext cx="2616518" cy="490538"/>
          </a:xfrm>
          <a:prstGeom prst="rect">
            <a:avLst/>
          </a:prstGeom>
          <a:solidFill>
            <a:srgbClr val="5F5153"/>
          </a:solidFill>
        </p:spPr>
      </p:sp>
      <p:sp>
        <p:nvSpPr>
          <p:cNvPr id="20" name="Text 17"/>
          <p:cNvSpPr/>
          <p:nvPr/>
        </p:nvSpPr>
        <p:spPr>
          <a:xfrm>
            <a:off x="8730734" y="4014311"/>
            <a:ext cx="245269" cy="3065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7708583" y="4530804"/>
            <a:ext cx="2044065" cy="255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/notebooks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08583" y="4904184"/>
            <a:ext cx="2289572" cy="6754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EDA, model training, hyperparameter tuning, and evaluation reports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10302359" y="3899535"/>
            <a:ext cx="2662357" cy="1866424"/>
          </a:xfrm>
          <a:prstGeom prst="roundRect">
            <a:avLst>
              <a:gd name="adj" fmla="val 131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325219" y="3922395"/>
            <a:ext cx="2616637" cy="490538"/>
          </a:xfrm>
          <a:prstGeom prst="rect">
            <a:avLst/>
          </a:prstGeom>
          <a:solidFill>
            <a:srgbClr val="5F5153"/>
          </a:solidFill>
        </p:spPr>
      </p:sp>
      <p:sp>
        <p:nvSpPr>
          <p:cNvPr id="25" name="Text 22"/>
          <p:cNvSpPr/>
          <p:nvPr/>
        </p:nvSpPr>
        <p:spPr>
          <a:xfrm>
            <a:off x="11510843" y="4014311"/>
            <a:ext cx="245269" cy="3065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10488692" y="4530804"/>
            <a:ext cx="2044065" cy="255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/docs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488692" y="4904184"/>
            <a:ext cx="2289691" cy="6754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Architecture diagrams, API reference, and deployment runbook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1673304" y="6031230"/>
            <a:ext cx="5582960" cy="1103471"/>
          </a:xfrm>
          <a:prstGeom prst="roundRect">
            <a:avLst>
              <a:gd name="adj" fmla="val 2223"/>
            </a:avLst>
          </a:prstGeom>
          <a:solidFill>
            <a:srgbClr val="5F5153"/>
          </a:solidFill>
        </p:spPr>
      </p:sp>
      <p:sp>
        <p:nvSpPr>
          <p:cNvPr id="29" name="Text 26"/>
          <p:cNvSpPr/>
          <p:nvPr/>
        </p:nvSpPr>
        <p:spPr>
          <a:xfrm>
            <a:off x="1836777" y="6194703"/>
            <a:ext cx="2044065" cy="255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Stack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836777" y="6520934"/>
            <a:ext cx="5256014" cy="2251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Python · Flask · Scikit-Learn · Pandas · Chart.js · Matplotlib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374136" y="6031230"/>
            <a:ext cx="5582960" cy="1103471"/>
          </a:xfrm>
          <a:prstGeom prst="roundRect">
            <a:avLst>
              <a:gd name="adj" fmla="val 2223"/>
            </a:avLst>
          </a:prstGeom>
          <a:solidFill>
            <a:srgbClr val="5F5153"/>
          </a:solidFill>
        </p:spPr>
      </p:sp>
      <p:sp>
        <p:nvSpPr>
          <p:cNvPr id="32" name="Text 29"/>
          <p:cNvSpPr/>
          <p:nvPr/>
        </p:nvSpPr>
        <p:spPr>
          <a:xfrm>
            <a:off x="7537609" y="6194703"/>
            <a:ext cx="2044065" cy="2555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License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537609" y="6520934"/>
            <a:ext cx="5256014" cy="4502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Mohammed Waseemaddin— open for academic and commercial adaptation</a:t>
            </a:r>
            <a:endParaRPr lang="en-US" sz="1250" dirty="0"/>
          </a:p>
        </p:txBody>
      </p:sp>
      <p:sp>
        <p:nvSpPr>
          <p:cNvPr id="34" name="Rounded Rectangle 33"/>
          <p:cNvSpPr/>
          <p:nvPr/>
        </p:nvSpPr>
        <p:spPr>
          <a:xfrm>
            <a:off x="12879070" y="7597140"/>
            <a:ext cx="1652905" cy="5105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54925"/>
            <a:ext cx="7825502" cy="9782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Thank You!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3686770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I appreciate your time and attention. For more information or collaboration inquiries about the Real-Time Multi-Mode Decision Support system, please reach out.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667726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5F5153"/>
          </a:solidFill>
        </p:spPr>
      </p:sp>
      <p:sp>
        <p:nvSpPr>
          <p:cNvPr id="5" name="Text 3"/>
          <p:cNvSpPr/>
          <p:nvPr/>
        </p:nvSpPr>
        <p:spPr>
          <a:xfrm>
            <a:off x="1020604" y="489454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Presenter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5384959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Mohammed Waseemaddin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4667726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5F5153"/>
          </a:solidFill>
        </p:spPr>
      </p:sp>
      <p:sp>
        <p:nvSpPr>
          <p:cNvPr id="8" name="Text 6"/>
          <p:cNvSpPr/>
          <p:nvPr/>
        </p:nvSpPr>
        <p:spPr>
          <a:xfrm>
            <a:off x="7655362" y="489454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Contact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55362" y="5384959"/>
            <a:ext cx="59544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E2C2B3"/>
                </a:solidFill>
                <a:latin typeface="Noto Serif HK" panose="02020200000000000000" pitchFamily="34" charset="-120"/>
                <a:ea typeface="Noto Serif HK" panose="02020200000000000000" pitchFamily="34" charset="-122"/>
                <a:cs typeface="Noto Serif HK" panose="02020200000000000000" pitchFamily="34" charset="-120"/>
              </a:rPr>
              <a:t>waseemaddin.wm@gmail.com</a:t>
            </a:r>
            <a:endParaRPr lang="en-US" sz="1750" dirty="0"/>
          </a:p>
        </p:txBody>
      </p:sp>
      <p:sp>
        <p:nvSpPr>
          <p:cNvPr id="10" name="Rounded Rectangle 9"/>
          <p:cNvSpPr/>
          <p:nvPr/>
        </p:nvSpPr>
        <p:spPr>
          <a:xfrm>
            <a:off x="12879070" y="7597140"/>
            <a:ext cx="1652905" cy="5105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4041</Words>
  <Application>WPS Presentation</Application>
  <PresentationFormat>On-screen Show (16:9)</PresentationFormat>
  <Paragraphs>160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Noto Serif HK Bold</vt:lpstr>
      <vt:lpstr>Segoe Print</vt:lpstr>
      <vt:lpstr>Noto Serif HK Bold</vt:lpstr>
      <vt:lpstr>Noto Serif HK Bold</vt:lpstr>
      <vt:lpstr>Noto Serif HK</vt:lpstr>
      <vt:lpstr>Noto Serif HK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Mohammed Waseemaddin</cp:lastModifiedBy>
  <cp:revision>5</cp:revision>
  <dcterms:created xsi:type="dcterms:W3CDTF">2026-04-07T08:24:00Z</dcterms:created>
  <dcterms:modified xsi:type="dcterms:W3CDTF">2026-04-07T09:08:09Z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41E50009C9194629BA8B6A366693F3FC_13</vt:lpwstr>
  </property>
  <property fmtid="{D5CDD505-2E9C-101B-9397-08002B2CF9AE}" pid="3" name="KSOProductBuildVer">
    <vt:lpwstr>2057-12.2.0.23196</vt:lpwstr>
  </property>
</Properties>
</file>